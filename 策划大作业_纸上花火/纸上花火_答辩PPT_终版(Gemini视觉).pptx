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大家好，我的策划是《纸上花火》。一句话——戴上头显，回到我们 QQ 空间、花火杂志的那个夏天。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它不是一个要赢的游戏，是一座可以走进去的、属于一代人的记忆博物馆。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怀旧是这几年最强的情绪，但没人让你真正走回去。VR 能做到，这就是切入点。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这群人是消费主力又最吃怀旧；线下展览和联名是它天然的商业出口。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一进门，你就该脱口而出：这就是我那时候的房间。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玩法很轻：自由地翻、看、听。每唤醒一件旧物，得到一片记忆。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每件旧物都是一段记忆的钥匙。开机进 QQ 空间，闪图、非主流签名、自动播放的空间音乐全回来了。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光看会腻，所以设计了两个主动仪式。写信，是把没说出口的话交给那个夏天。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美术是命门。我用后处理把画面压成一张会动的旧照片，这是它和普通 3D 场景最大的区别。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用主流 VR 管线，UI 两种模式都用上，专门做了防眩晕。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结尾让整个房间在夕阳里慢慢褪色、化成光飘散——美好转瞬即逝，你完成了对青春的告别。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声音是怀旧的另一半。年代金曲用原创致敬版，规避版权又保留那个味道。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它不止是作业：怀旧自带传播力，线下展览和联名是清晰的落地路径。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《纸上花火》——把一代人的青春，温柔地收藏一次。谢谢大家。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_关键视觉_卧室黄昏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01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114800"/>
          </a:xfrm>
          <a:prstGeom prst="rect">
            <a:avLst/>
          </a:prstGeom>
          <a:solidFill>
            <a:srgbClr val="16101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E8C36A"/>
                </a:solidFill>
                <a:latin typeface="Noto Serif CJK SC"/>
                <a:ea typeface="Noto Serif CJK SC"/>
                <a:cs typeface="Noto Serif CJK SC"/>
              </a:rPr>
              <a:t>纸上花火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spc="200">
                <a:solidFill>
                  <a:srgbClr val="F5EBD8"/>
                </a:solidFill>
                <a:latin typeface="Courier New"/>
                <a:ea typeface="Courier New"/>
                <a:cs typeface="Courier New"/>
              </a:rPr>
              <a:t>PAPER  FIREWORKS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一台走得进去的青春时光机 · 古早怀旧 VR 体验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35463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709265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63898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18531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773163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127796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482429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3706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1143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3429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5715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02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1371600"/>
            <a:ext cx="9601200" cy="457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600" b="1">
                <a:solidFill>
                  <a:srgbClr val="F5EBD8"/>
                </a:solidFill>
                <a:latin typeface="Noto Serif CJK SC"/>
                <a:ea typeface="Noto Serif CJK SC"/>
                <a:cs typeface="Noto Serif CJK SC"/>
              </a:rPr>
              <a:t>一句话概念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回到 2005–2012——QQ 空间、非主流、花火杂志的年代。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在一间被时光封存的少女卧室里，翻动旧物、唤醒记忆，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与青春做一次温柔的道别。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35463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709265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63898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18531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773163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127796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482429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3706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1143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3429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5715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03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1371600"/>
            <a:ext cx="9601200" cy="457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600" b="1">
                <a:solidFill>
                  <a:srgbClr val="F5EBD8"/>
                </a:solidFill>
                <a:latin typeface="Noto Serif CJK SC"/>
                <a:ea typeface="Noto Serif CJK SC"/>
                <a:cs typeface="Noto Serif CJK SC"/>
              </a:rPr>
              <a:t>立意 · 为什么做它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母题：美好转瞬即逝；每个人的青春都值得被妥善收藏一次。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定位：不是「通关」的游戏，而是一座可走入的时代记忆博物馆。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关键词：怀旧 · 治愈 · 沉浸 · 告别。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35463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709265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63898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18531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773163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127796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482429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3706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1143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3429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5715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04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1371600"/>
            <a:ext cx="9601200" cy="457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600" b="1">
                <a:solidFill>
                  <a:srgbClr val="F5EBD8"/>
                </a:solidFill>
                <a:latin typeface="Noto Serif CJK SC"/>
                <a:ea typeface="Noto Serif CJK SC"/>
                <a:cs typeface="Noto Serif CJK SC"/>
              </a:rPr>
              <a:t>目标用户与市场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核心：90 / 95 后——QQ 空间原住民、花火读者、非主流亲历者。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扩展：Y2K 美学党、情感治愈与沉浸体验玩家。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场景：个人头显 / 线下怀旧快闪展览 / 品牌联名（汽水·文具·音乐 App）。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05 / 14</a:t>
            </a:r>
          </a:p>
        </p:txBody>
      </p:sp>
      <p:pic>
        <p:nvPicPr>
          <p:cNvPr id="3" name="Picture 2" descr="01_关键视觉_卧室黄昏.png"/>
          <p:cNvPicPr>
            <a:picLocks noChangeAspect="1"/>
          </p:cNvPicPr>
          <p:nvPr/>
        </p:nvPicPr>
        <p:blipFill>
          <a:blip r:embed="rId3"/>
          <a:srcRect l="18000" r="40000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720" y="1097280"/>
            <a:ext cx="588233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200" b="1">
                <a:solidFill>
                  <a:srgbClr val="F5EBD8"/>
                </a:solidFill>
                <a:latin typeface="Noto Serif CJK SC"/>
                <a:ea typeface="Noto Serif CJK SC"/>
                <a:cs typeface="Noto Serif CJK SC"/>
              </a:rPr>
              <a:t>世界观与场景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约 12㎡ 的千禧少女卧室：碎花床、海报墙、CRT 电脑、卡带机、相片墙。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靠「道具密度」而非「场景大小」堆叠沉浸感。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窗外天幕从黄昏过渡到入夜，驱动室内氛围。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35463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709265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63898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18531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773163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127796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482429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3706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1143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3429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5715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06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1371600"/>
            <a:ext cx="9601200" cy="457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600" b="1">
                <a:solidFill>
                  <a:srgbClr val="F5EBD8"/>
                </a:solidFill>
                <a:latin typeface="Noto Serif CJK SC"/>
                <a:ea typeface="Noto Serif CJK SC"/>
                <a:cs typeface="Noto Serif CJK SC"/>
              </a:rPr>
              <a:t>核心玩法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第一人称 VR 漫游 + 手柄交互。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唤醒旧物 → 收集记忆碎片 → 集齐解锁结局。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无失败、无倒计时、治愈向。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07 / 14</a:t>
            </a:r>
          </a:p>
        </p:txBody>
      </p:sp>
      <p:pic>
        <p:nvPicPr>
          <p:cNvPr id="3" name="Picture 2" descr="02_WorldSpaceUI_QQ空间.png"/>
          <p:cNvPicPr>
            <a:picLocks noChangeAspect="1"/>
          </p:cNvPicPr>
          <p:nvPr/>
        </p:nvPicPr>
        <p:blipFill>
          <a:blip r:embed="rId3"/>
          <a:srcRect l="29000" r="29000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-109728" y="-109728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64608" y="-109728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2600" b="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109728" y="6510528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6510528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2600" b="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097280"/>
            <a:ext cx="588233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200" b="1">
                <a:solidFill>
                  <a:srgbClr val="F5EBD8"/>
                </a:solidFill>
                <a:latin typeface="Noto Serif CJK SC"/>
                <a:ea typeface="Noto Serif CJK SC"/>
                <a:cs typeface="Noto Serif CJK SC"/>
              </a:rPr>
              <a:t>会说话的旧物 · 8 件 = 8 片记忆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台式机 → QQ 空间（闪图、非主流签名、自动播放空间音乐）。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卡带机 → 那年的歌；杂志 → 竖排言情；同学录 → 毕业留言。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信纸 → 写一封寄不出的信。集齐 8 片记忆，解锁结局。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08 / 14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22960"/>
            <a:ext cx="10360152" cy="5212080"/>
          </a:xfrm>
          <a:prstGeom prst="rect">
            <a:avLst/>
          </a:prstGeom>
          <a:solidFill>
            <a:srgbClr val="E8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37360" y="1280160"/>
            <a:ext cx="8714232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16101A"/>
                </a:solidFill>
                <a:latin typeface="Noto Serif CJK SC"/>
                <a:ea typeface="Noto Serif CJK SC"/>
                <a:cs typeface="Noto Serif CJK SC"/>
              </a:rPr>
              <a:t>情感仪式 · 让怀旧变成参与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4A424E"/>
                </a:solidFill>
                <a:latin typeface="Noto Sans CJK SC"/>
                <a:ea typeface="Noto Sans CJK SC"/>
                <a:cs typeface="Noto Sans CJK SC"/>
              </a:rPr>
              <a:t>—  ① 写一封寄不出的信 → 信化作光飘出窗外。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4A424E"/>
                </a:solidFill>
                <a:latin typeface="Noto Sans CJK SC"/>
                <a:ea typeface="Noto Sans CJK SC"/>
                <a:cs typeface="Noto Sans CJK SC"/>
              </a:rPr>
              <a:t>—  ② 拍立得留念 → 贴上相片墙。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4A424E"/>
                </a:solidFill>
                <a:latin typeface="Noto Sans CJK SC"/>
                <a:ea typeface="Noto Sans CJK SC"/>
                <a:cs typeface="Noto Sans CJK SC"/>
              </a:rPr>
              <a:t>—  把「看」变成「参与」，情感更深。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09 / 14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22960"/>
            <a:ext cx="10360152" cy="5212080"/>
          </a:xfrm>
          <a:prstGeom prst="rect">
            <a:avLst/>
          </a:prstGeom>
          <a:solidFill>
            <a:srgbClr val="E8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花火杂志_竖排金句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089404"/>
            <a:ext cx="4754880" cy="26791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280160"/>
            <a:ext cx="4325112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16101A"/>
                </a:solidFill>
                <a:latin typeface="Noto Serif CJK SC"/>
                <a:ea typeface="Noto Serif CJK SC"/>
                <a:cs typeface="Noto Serif CJK SC"/>
              </a:rPr>
              <a:t>美术风格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4A424E"/>
                </a:solidFill>
                <a:latin typeface="Noto Sans CJK SC"/>
                <a:ea typeface="Noto Sans CJK SC"/>
                <a:cs typeface="Noto Sans CJK SC"/>
              </a:rPr>
              <a:t>—  千禧 Y2K × 古早言情 × 非主流。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4A424E"/>
                </a:solidFill>
                <a:latin typeface="Noto Sans CJK SC"/>
                <a:ea typeface="Noto Sans CJK SC"/>
                <a:cs typeface="Noto Sans CJK SC"/>
              </a:rPr>
              <a:t>—  暖黄夕照 + 玫红网格 + 衬线竖排。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4A424E"/>
                </a:solidFill>
                <a:latin typeface="Noto Sans CJK SC"/>
                <a:ea typeface="Noto Sans CJK SC"/>
                <a:cs typeface="Noto Sans CJK SC"/>
              </a:rPr>
              <a:t>—  电影级怀旧后处理：把「塑料 3D」压成「会动的旧照片」。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10 / 14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22960"/>
            <a:ext cx="10360152" cy="5212080"/>
          </a:xfrm>
          <a:prstGeom prst="rect">
            <a:avLst/>
          </a:prstGeom>
          <a:solidFill>
            <a:srgbClr val="E8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37360" y="1280160"/>
            <a:ext cx="8714232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16101A"/>
                </a:solidFill>
                <a:latin typeface="Noto Serif CJK SC"/>
                <a:ea typeface="Noto Serif CJK SC"/>
                <a:cs typeface="Noto Serif CJK SC"/>
              </a:rPr>
              <a:t>技术方案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4A424E"/>
                </a:solidFill>
                <a:latin typeface="Noto Sans CJK SC"/>
                <a:ea typeface="Noto Sans CJK SC"/>
                <a:cs typeface="Noto Sans CJK SC"/>
              </a:rPr>
              <a:t>—  Unity + URP（Bloom / 调色 / 颗粒 / 暗角）。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4A424E"/>
                </a:solidFill>
                <a:latin typeface="Noto Sans CJK SC"/>
                <a:ea typeface="Noto Sans CJK SC"/>
                <a:cs typeface="Noto Sans CJK SC"/>
              </a:rPr>
              <a:t>—  XR Interaction Toolkit（手柄射线 + 抓取）。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4A424E"/>
                </a:solidFill>
                <a:latin typeface="Noto Sans CJK SC"/>
                <a:ea typeface="Noto Sans CJK SC"/>
                <a:cs typeface="Noto Sans CJK SC"/>
              </a:rPr>
              <a:t>—  UI 两模式：Overlay（系统/进度）+ WorldSpace（QQ/杂志贴物体）。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>
                <a:solidFill>
                  <a:srgbClr val="4A424E"/>
                </a:solidFill>
                <a:latin typeface="Noto Sans CJK SC"/>
                <a:ea typeface="Noto Sans CJK SC"/>
                <a:cs typeface="Noto Sans CJK SC"/>
              </a:rPr>
              <a:t>—  防眩晕：瞬移 + 舒适转向 + 暗角；可出桌面演示版。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35463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709265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63898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18531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773163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127796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482429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3706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1143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3429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5715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11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118872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600" b="1">
                <a:solidFill>
                  <a:srgbClr val="F5EBD8"/>
                </a:solidFill>
                <a:latin typeface="Noto Serif CJK SC"/>
                <a:ea typeface="Noto Serif CJK SC"/>
                <a:cs typeface="Noto Serif CJK SC"/>
              </a:rPr>
              <a:t>叙事流程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560320"/>
            <a:ext cx="960120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200000"/>
              </a:lnSpc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E8C36A"/>
                </a:solidFill>
                <a:latin typeface="Noto Serif CJK SC"/>
                <a:ea typeface="Noto Serif CJK SC"/>
                <a:cs typeface="Noto Serif CJK SC"/>
              </a:rPr>
              <a:t>黄昏入场  →  探索唤醒  →  集齐记忆  →  写信  →  拍照  →  褪色光化  →  落款金句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35463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709265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63898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18531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773163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127796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482429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3706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1143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3429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5715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12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1371600"/>
            <a:ext cx="9601200" cy="457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600" b="1">
                <a:solidFill>
                  <a:srgbClr val="F5EBD8"/>
                </a:solidFill>
                <a:latin typeface="Noto Serif CJK SC"/>
                <a:ea typeface="Noto Serif CJK SC"/>
                <a:cs typeface="Noto Serif CJK SC"/>
              </a:rPr>
              <a:t>音乐与音效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原创年代主题曲（钢琴 + 卡带底噪）。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环境音：蝉鸣 / 电扇 / 拨号上网 / QQ 提示音。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全部原创或免版税，规避版权。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35463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709265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63898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18531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773163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127796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482429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837062" y="0"/>
            <a:ext cx="0" cy="685800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1143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3429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5715000"/>
            <a:ext cx="12191695" cy="0"/>
          </a:xfrm>
          <a:prstGeom prst="line">
            <a:avLst/>
          </a:prstGeom>
          <a:ln w="6350">
            <a:solidFill>
              <a:srgbClr val="FFFFFF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80015" y="2743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100" b="0" spc="100">
                <a:solidFill>
                  <a:srgbClr val="D96E8C"/>
                </a:solidFill>
                <a:latin typeface="Courier New"/>
                <a:ea typeface="Courier New"/>
                <a:cs typeface="Courier New"/>
              </a:rPr>
              <a:t>PAGE 13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1371600"/>
            <a:ext cx="9601200" cy="457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600" b="1">
                <a:solidFill>
                  <a:srgbClr val="F5EBD8"/>
                </a:solidFill>
                <a:latin typeface="Noto Serif CJK SC"/>
                <a:ea typeface="Noto Serif CJK SC"/>
                <a:cs typeface="Noto Serif CJK SC"/>
              </a:rPr>
              <a:t>商业与展览价值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怀旧 = 强情绪流量；每帧画面可截图传播。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适配线下怀旧快闪展览 + 品牌联名。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B9B1A4"/>
                </a:solidFill>
                <a:latin typeface="Noto Sans CJK SC"/>
                <a:ea typeface="Noto Sans CJK SC"/>
                <a:cs typeface="Noto Sans CJK SC"/>
              </a:rPr>
              <a:t>—  长尾话题度与衍生传播潜力明显。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_结局_褪色光化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01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575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E8C36A"/>
                </a:solidFill>
                <a:latin typeface="Noto Serif CJK SC"/>
                <a:ea typeface="Noto Serif CJK SC"/>
                <a:cs typeface="Noto Serif CJK SC"/>
              </a:rPr>
              <a:t>那年夏天，我们都以为来日方长。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754880" y="3977639"/>
            <a:ext cx="2679192" cy="0"/>
          </a:xfrm>
          <a:prstGeom prst="line">
            <a:avLst/>
          </a:prstGeom>
          <a:ln w="12700">
            <a:solidFill>
              <a:srgbClr val="D96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71600" y="4206240"/>
            <a:ext cx="94457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0" spc="200">
                <a:solidFill>
                  <a:srgbClr val="F5EBD8"/>
                </a:solidFill>
                <a:latin typeface="Noto Sans CJK SC"/>
                <a:ea typeface="Noto Sans CJK SC"/>
                <a:cs typeface="Noto Sans CJK SC"/>
              </a:rPr>
              <a:t>纸上花火 · 谢谢观看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